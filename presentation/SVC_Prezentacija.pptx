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95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SEMINARSKI RAD - SREES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Dinamički konvertor za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Var Compensator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 i SVC Type II  —  natID / dTwin plugin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5120640" cy="123444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 Hodžić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Indeks: 19145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Elektrotehnički fakultet Sarajevo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Static Var Compensator?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uređaj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kontinuirano reguliše napon na sabirnici variranjem svoje efektivne šant susceptanse.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Sastoji se od: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tiristorski upravljanog reaktora (TCR) paralelno sa fiksnim kondenzatorom (FC).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 projekta: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konverzija MATPOWER statičkog modela mreže u dinamički DAE model sa SVC dinamikom na odabranim čvorovima.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78040" y="155448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šema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0" y="2377440"/>
            <a:ext cx="40233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sabirnica h  (napon vh)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292608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2377440"/>
            <a:ext cx="0" cy="5486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46920" y="292608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4692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(fiksni 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424160" y="2377440"/>
            <a:ext cx="0" cy="5486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3886200"/>
            <a:ext cx="0" cy="4572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0" y="3886200"/>
            <a:ext cx="0" cy="4572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434340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5F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43434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B_SVC(σ) → Q = B_SVC · vh²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5349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I: upravlja σ direktno  |  Type II: upravlja B_SVC direktno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Zahtjevi projekta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02920" cy="50292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70862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 natID matrice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94960" y="176479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Isključivo dense/sparse matrice iz natID SDK-a za sve matrične operacije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06624"/>
            <a:ext cx="502920" cy="50292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2766974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609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plugin (.dll)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94960" y="2660904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natGUI biblioteka, plugin arhitektura za dTwin platformu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602736"/>
            <a:ext cx="502920" cy="50292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3663086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570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konfiguracija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94960" y="355701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Definiše koji čvor je SVC Type I, Type II ili standardni model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498848"/>
            <a:ext cx="502920" cy="50292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559198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53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+ real-time progres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94960" y="445312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 u worker thread-u, progres bar ažuriran uživo u GUI-u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394960"/>
            <a:ext cx="502920" cy="50292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" y="5455310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349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slučajevi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94960" y="53492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case9, case30, case118, case300 (MATPOWER)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SVC Type I — model preko ugla paljenja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direktno mijenja ugao paljenja tiristora σ (firing angle) na osnovu razlike mjerenog i referentnog napona.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0" cy="3886200"/>
          </a:xfrm>
          <a:prstGeom prst="roundRect">
            <a:avLst>
              <a:gd name="adj" fmla="val 18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Milano, jed. 19.3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5852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v_M' = (K_M·v_h - v_M) / T_M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σ' = -K_D + K·T1/(T2·T_M)·(v_M - K_M·v_h)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K/T2·(v_ref - v_M)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B_SVC(σ) = 1/x_C - (2π-2σ+sin2σ)/(π·x_L)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B_SVC · v_h²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78040" y="2148840"/>
            <a:ext cx="44805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dijagram regulatora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278892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7889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23960" y="3127248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278892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788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10728" y="3474720"/>
            <a:ext cx="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4160520"/>
            <a:ext cx="3429000" cy="685800"/>
          </a:xfrm>
          <a:prstGeom prst="roundRect">
            <a:avLst>
              <a:gd name="adj" fmla="val 6667"/>
            </a:avLst>
          </a:prstGeom>
          <a:solidFill>
            <a:srgbClr val="5F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41605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regulator: K(T1s+1)/(T2s)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25712" y="484632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5440680"/>
            <a:ext cx="251460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5440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(± limiter)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SVC Type II — model preko susceptanse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Pojednostavljen model: regulator direktno upravlja efektivnom susceptansom B_SVC, bez posredovanja ugla paljenja.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0" cy="3886200"/>
          </a:xfrm>
          <a:prstGeom prst="roundRect">
            <a:avLst>
              <a:gd name="adj" fmla="val 18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Milano, jed. 19.4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B_SVC' = (Kr·(v_ref - v_h) - B_SVC) / Tr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B_SVC · v_h²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5806440" cy="13716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526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Napomena (Milano): Type II ima nultu statičku grešku (integralni regulator), ali pokazuje izraženije visokofrekventne oscilacije u odnosu na Type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78040" y="2148840"/>
            <a:ext cx="44805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dijagram regulatora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301752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vh, vref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35440" y="3355848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30175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30175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(-)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79608" y="370332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4206240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5F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06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/ (Tr·s+1)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13848" y="489204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5394960"/>
            <a:ext cx="260604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5394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B_SVC (± limiter)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podataka konvertora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6F0F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 fajl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E6F0F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17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XML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304288"/>
            <a:ext cx="5486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401568"/>
            <a:ext cx="5486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92024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9202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MatpowerCase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dense::DblMatrix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34640" y="301752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30175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SvcConfig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xml::FileParser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2304288"/>
            <a:ext cx="548640" cy="34747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3401568"/>
            <a:ext cx="548640" cy="-38404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233172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23317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YBusBuilder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natID sparse solver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2834640"/>
            <a:ext cx="5486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33172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23317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DmodlWriter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generiše DAE tekst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78340" y="3337560"/>
            <a:ext cx="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384048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6F0F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3840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.dmodl / .vmodl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izlazni fajlovi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51760" y="1691640"/>
            <a:ext cx="827532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6517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 (worker thread)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Cijeli pipeline (parsiranje, izgradnja Ybus-a, generisanje DAE jednačina) implementiran je u C++, koristeći isključivo natID dense/sparse matrice — bez eksternog Python koraka za predobradu.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i threading arhitektura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743200" cy="457200"/>
          </a:xfrm>
          <a:prstGeom prst="rect">
            <a:avLst/>
          </a:prstGeom>
          <a:solidFill>
            <a:srgbClr val="D6E4E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 case (.m):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2377440"/>
            <a:ext cx="2651760" cy="274320"/>
          </a:xfrm>
          <a:prstGeom prst="rect">
            <a:avLst/>
          </a:prstGeom>
          <a:solidFill>
            <a:srgbClr val="F0F4F6"/>
          </a:solidFill>
          <a:ln w="12700">
            <a:solidFill>
              <a:srgbClr val="C7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config (.xml):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926080"/>
            <a:ext cx="2651760" cy="274320"/>
          </a:xfrm>
          <a:prstGeom prst="rect">
            <a:avLst/>
          </a:prstGeom>
          <a:solidFill>
            <a:srgbClr val="F0F4F6"/>
          </a:solidFill>
          <a:ln w="12700">
            <a:solidFill>
              <a:srgbClr val="C7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File Name: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3474720"/>
            <a:ext cx="2651760" cy="274320"/>
          </a:xfrm>
          <a:prstGeom prst="rect">
            <a:avLst/>
          </a:prstGeom>
          <a:solidFill>
            <a:srgbClr val="F0F4F6"/>
          </a:solidFill>
          <a:ln w="12700">
            <a:solidFill>
              <a:srgbClr val="C7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 u toku...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4892040" cy="320040"/>
          </a:xfrm>
          <a:prstGeom prst="roundRect">
            <a:avLst>
              <a:gd name="adj" fmla="val 14286"/>
            </a:avLst>
          </a:prstGeom>
          <a:solidFill>
            <a:srgbClr val="E2E8E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80560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5F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5029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96596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9659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thread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ViewConv, gui::ProgressIndicator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5120" y="448056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4805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Converter::run(...)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2834640"/>
            <a:ext cx="-457200" cy="1554480"/>
          </a:xfrm>
          <a:prstGeom prst="line">
            <a:avLst/>
          </a:prstGeom>
          <a:noFill/>
          <a:ln w="25400">
            <a:solidFill>
              <a:srgbClr val="5F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246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std::thread pokreće konverziju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149840" y="4480560"/>
            <a:ext cx="457200" cy="-1554480"/>
          </a:xfrm>
          <a:prstGeom prst="line">
            <a:avLst/>
          </a:prstGeom>
          <a:noFill/>
          <a:ln w="25400">
            <a:solidFill>
              <a:srgbClr val="5F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3017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progressCb(frac) →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thread (async)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75120" y="54864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Direktan pristup GUI elementima sa worker thread-a se nikad ne dešava — sva ažuriranja idu preko gui::thread::asyncExecInMainThread.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format za dodjelu tipa čvora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&lt;SVCConverterConfig&gt;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&lt;Files&gt;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&lt;InputFile path="case9.m"/&gt;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&lt;OutputFile name="case9_svc" .../&gt;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&lt;/Files&gt;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&lt;Simulation&gt;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&lt;dTime&gt;0.01&lt;/dTime&gt; &lt;endTime&gt;10&lt;/endTime&gt;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&lt;/Simulation&gt;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&lt;SVCNodes&gt;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&lt;Node bus="5" type="SVCTypeI"  vref="1.02"/&gt;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&lt;Node bus="9" type="SVCTypeII" vref="1.00"/&gt;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&lt;/SVCNodes&gt;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&lt;/SVCConverterConfig&gt;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18120" y="160020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2440" y="1874520"/>
            <a:ext cx="548640" cy="54864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8277" y="19403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5 → SVC Type 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244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9 → SVC Type II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092440" y="3520440"/>
            <a:ext cx="3246120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3703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bus koji NIJE naveden zadržava svoj originalni statički model (Slack / PV / PQ) iz .m fajla.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TESTIRANJE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slučajevi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920240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slučaj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Type I (bus)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Type II (bus)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case118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case300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737360" y="5486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busevi su odabrani među originalno PQ (opterećenim) čvorovima — isti princip kao Milanov IEEE14 primjer (SVC na bus 9).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VERIFIKACIJA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Projekat je stvarno kompajliran i pokrenut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476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MSVC 2022 build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Build Tools 2022 — oba solution-a (SVCPluginSol, TestSVCPluginSol) kompajlirana i linkovana bez grešaka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476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89280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greške pronađene i ispravljene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46520" y="2560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Otkrivene direktno kroz kompajliranje (nedostajući include-ovi), ne bi bile uočene statičkom analizom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3367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7880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Y-bus vrijednosti potvrđene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case9 konverzija: vrijednosti admitansi TAČNO se poklapaju sa prošlogodišnjim nezavisnim konvertorom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72200" y="3977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85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3367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417880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 4 case-a rade end-to-end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4652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Otkriven i otklonjen dTwin PostProc bug — case9/30/118/300 se ispravno otvaraju i rješavaju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postignuto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92206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 C++ pipeline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0" y="17830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eksternog Python koraka - isključivo natID dense/sparse matrice u cijelom procesu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907792"/>
            <a:ext cx="548640" cy="54864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7" y="297362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XML-konfigurabilan izbor SVC tipa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35040" y="28346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čvoru: standardni model, SVC Type I ili SVC Type II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59352"/>
            <a:ext cx="548640" cy="54864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7" y="402518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GUI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035040" y="3886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 bez direktnog pristupa GUI-u sa worker thread-a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010912"/>
            <a:ext cx="548640" cy="548640"/>
          </a:xfrm>
          <a:prstGeom prst="ellipse">
            <a:avLst/>
          </a:prstGeom>
          <a:solidFill>
            <a:srgbClr val="E6F0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7" y="5076749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937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Validirano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035040" y="49377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 Milanovoj teoriji (jednačine 19.1-19.5) i poređenjem sa referentnim konvertorom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41848" y="18288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 Hodžić  •  Indeks 19145  •  SREES_2026_Hodzic_SVC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Type I/II - natID/dTwin plugin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SVC Type I/II - natID/dTwin plugin</dc:title>
  <dc:subject>PptxGenJS Presentation</dc:subject>
  <dc:creator>Haris Hodžić</dc:creator>
  <cp:lastModifiedBy>Haris Hodžić</cp:lastModifiedBy>
  <cp:revision>1</cp:revision>
  <dcterms:created xsi:type="dcterms:W3CDTF">2026-07-06T20:41:59Z</dcterms:created>
  <dcterms:modified xsi:type="dcterms:W3CDTF">2026-07-06T20:41:59Z</dcterms:modified>
</cp:coreProperties>
</file>