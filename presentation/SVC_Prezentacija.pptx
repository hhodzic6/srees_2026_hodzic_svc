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3840480" cy="384048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9436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7955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148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SEMINARSKI RAD - SREES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51460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Dinamički konvertor za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Var Compensator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48640" y="39776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 i SVC Type II  —  natID / dTwin plugin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48640" y="4892040"/>
            <a:ext cx="5120640" cy="1234440"/>
          </a:xfrm>
          <a:prstGeom prst="rect">
            <a:avLst/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50292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Haris Hodžić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Indeks: 19145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Elektrotehnički fakultet Sarajevo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Šta je Static Var Compensator?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7607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uređaj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koji kontinuirano reguliše napon na sabirnici variranjem svoje efektivne šant susceptanse.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Sastoji se od: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tiristorski upravljanog reaktora (TCR) paralelno sa fiksnim kondenzatorom (FC).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Cilj projekta: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automatska konverzija MATPOWER statičkog modela mreže u dinamički DAE model sa SVC dinamikom na odabranim čvorovima.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178040" y="1554480"/>
            <a:ext cx="4480560" cy="4480560"/>
          </a:xfrm>
          <a:prstGeom prst="roundRect">
            <a:avLst>
              <a:gd name="adj" fmla="val 1633"/>
            </a:avLst>
          </a:prstGeom>
          <a:solidFill>
            <a:srgbClr val="21295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06640" y="1737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šema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498080" y="2377440"/>
            <a:ext cx="402336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0" y="21488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sabirnica h  (napon vh)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0" y="292608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0" y="292608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(σ)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41080" y="2377440"/>
            <a:ext cx="0" cy="54864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46920" y="292608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9646920" y="292608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(fiksni C)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424160" y="2377440"/>
            <a:ext cx="0" cy="54864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41080" y="3886200"/>
            <a:ext cx="0" cy="45720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24160" y="3886200"/>
            <a:ext cx="0" cy="45720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4343400"/>
            <a:ext cx="3337560" cy="777240"/>
          </a:xfrm>
          <a:prstGeom prst="roundRect">
            <a:avLst>
              <a:gd name="adj" fmla="val 7059"/>
            </a:avLst>
          </a:prstGeom>
          <a:solidFill>
            <a:srgbClr val="5F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0" y="434340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B_SVC(σ) → Q = B_SVC · vh²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06640" y="53492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I: upravlja σ direktno  |  Type II: upravlja B_SVC direktno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Zahtjevi projekta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10512"/>
            <a:ext cx="502920" cy="502920"/>
          </a:xfrm>
          <a:prstGeom prst="ellipse">
            <a:avLst/>
          </a:prstGeom>
          <a:solidFill>
            <a:srgbClr val="E6F0F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" y="1870862"/>
            <a:ext cx="382219" cy="38221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647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i natID matrice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394960" y="1764792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Isključivo dense/sparse matrice iz natID SDK-a za sve matrične operacije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58775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7240" y="2706624"/>
            <a:ext cx="502920" cy="502920"/>
          </a:xfrm>
          <a:prstGeom prst="ellipse">
            <a:avLst/>
          </a:prstGeom>
          <a:solidFill>
            <a:srgbClr val="E6F0F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590" y="2766974"/>
            <a:ext cx="382219" cy="38221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660904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plugin (.dll)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394960" y="2660904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natGUI biblioteka, plugin arhitektura za dTwin platformu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483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602736"/>
            <a:ext cx="502920" cy="502920"/>
          </a:xfrm>
          <a:prstGeom prst="ellipse">
            <a:avLst/>
          </a:prstGeom>
          <a:solidFill>
            <a:srgbClr val="E6F0F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" y="3663086"/>
            <a:ext cx="382219" cy="38221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557016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konfiguracija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394960" y="3557016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Definiše koji čvor je SVC Type I, Type II ili standardni model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437997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4498848"/>
            <a:ext cx="502920" cy="502920"/>
          </a:xfrm>
          <a:prstGeom prst="ellipse">
            <a:avLst/>
          </a:prstGeom>
          <a:solidFill>
            <a:srgbClr val="E6F0F3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" y="4559198"/>
            <a:ext cx="382219" cy="38221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44531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+ real-time progres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394960" y="4453128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Konverzija u worker thread-u, progres bar ažuriran uživo u GUI-u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527608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5394960"/>
            <a:ext cx="502920" cy="502920"/>
          </a:xfrm>
          <a:prstGeom prst="ellipse">
            <a:avLst/>
          </a:prstGeom>
          <a:solidFill>
            <a:srgbClr val="E6F0F3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590" y="5455310"/>
            <a:ext cx="382219" cy="38221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08760" y="53492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slučajevi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5394960" y="534924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case9, case30, case118, case300 (MATPOWER)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SVC Type I — model preko ugla paljenja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 direktno mijenja ugao paljenja tiristora σ (firing angle) na osnovu razlike mjerenog i referentnog napona.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6400800" cy="3886200"/>
          </a:xfrm>
          <a:prstGeom prst="roundRect">
            <a:avLst>
              <a:gd name="adj" fmla="val 1882"/>
            </a:avLst>
          </a:prstGeom>
          <a:solidFill>
            <a:srgbClr val="21295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286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Milano, jed. 19.3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58521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v_M' = (K_M·v_h - v_M) / T_M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σ' = -K_D + K·T1/(T2·T_M)·(v_M - K_M·v_h)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+ K/T2·(v_ref - v_M)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B_SVC(σ) = 1/x_C - (2π-2σ+sin2σ)/(π·x_L)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B_SVC · v_h²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78040" y="2148840"/>
            <a:ext cx="448056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06640" y="22860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 dijagram regulatora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06640" y="2788920"/>
            <a:ext cx="1417320" cy="68580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0" y="2788920"/>
            <a:ext cx="1417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 →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KM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823960" y="3127248"/>
            <a:ext cx="5029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72600" y="2788920"/>
            <a:ext cx="1463040" cy="685800"/>
          </a:xfrm>
          <a:prstGeom prst="roundRect">
            <a:avLst>
              <a:gd name="adj" fmla="val 6667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9372600" y="27889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10728" y="3474720"/>
            <a:ext cx="0" cy="5943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06640" y="4160520"/>
            <a:ext cx="3429000" cy="685800"/>
          </a:xfrm>
          <a:prstGeom prst="roundRect">
            <a:avLst>
              <a:gd name="adj" fmla="val 6667"/>
            </a:avLst>
          </a:prstGeom>
          <a:solidFill>
            <a:srgbClr val="5F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7406640" y="4160520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regulator: K(T1s+1)/(T2s)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25712" y="4846320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5440680"/>
            <a:ext cx="2514600" cy="502920"/>
          </a:xfrm>
          <a:prstGeom prst="roundRect">
            <a:avLst>
              <a:gd name="adj" fmla="val 9091"/>
            </a:avLst>
          </a:prstGeom>
          <a:solidFill>
            <a:srgbClr val="21295C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0" y="544068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 (± limiter)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SVC Type II — model preko susceptanse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Pojednostavljen model: regulator direktno upravlja efektivnom susceptansom B_SVC, bez posredovanja ugla paljenja.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6400800" cy="3886200"/>
          </a:xfrm>
          <a:prstGeom prst="roundRect">
            <a:avLst>
              <a:gd name="adj" fmla="val 1882"/>
            </a:avLst>
          </a:prstGeom>
          <a:solidFill>
            <a:srgbClr val="21295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286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Milano, jed. 19.4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B_SVC' = (Kr·(v_ref - v_h) - B_SVC) / Tr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B_SVC · v_h²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434840"/>
            <a:ext cx="5806440" cy="1371600"/>
          </a:xfrm>
          <a:prstGeom prst="rect">
            <a:avLst/>
          </a:prstGeom>
          <a:solidFill>
            <a:srgbClr val="065A82">
              <a:alpha val="7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452628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Napomena (Milano): Type II ima nultu statičku grešku (integralni regulator), ali pokazuje izraženije visokofrekventne oscilacije u odnosu na Type I.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178040" y="2148840"/>
            <a:ext cx="448056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06640" y="22860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 dijagram regulatora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06640" y="301752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30175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vh, vref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235440" y="3355848"/>
            <a:ext cx="5029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0" y="3017520"/>
            <a:ext cx="1600200" cy="685800"/>
          </a:xfrm>
          <a:prstGeom prst="roundRect">
            <a:avLst>
              <a:gd name="adj" fmla="val 6667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9784080" y="301752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 (-)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579608" y="3703320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52560" y="4206240"/>
            <a:ext cx="2331720" cy="685800"/>
          </a:xfrm>
          <a:prstGeom prst="roundRect">
            <a:avLst>
              <a:gd name="adj" fmla="val 6667"/>
            </a:avLst>
          </a:prstGeom>
          <a:solidFill>
            <a:srgbClr val="5F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9052560" y="420624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 / (Tr·s+1)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213848" y="4892040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15400" y="5394960"/>
            <a:ext cx="2606040" cy="502920"/>
          </a:xfrm>
          <a:prstGeom prst="roundRect">
            <a:avLst>
              <a:gd name="adj" fmla="val 9091"/>
            </a:avLst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8915400" y="539496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B_SVC (± limiter)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ARHITEKTURA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 podataka konvertora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E6F0F3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92024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MATPOWER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 fajl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E6F0F3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30175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XML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0" y="2304288"/>
            <a:ext cx="54864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0" y="3401568"/>
            <a:ext cx="54864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4640" y="1920240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34640" y="192024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MatpowerCase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dense::DblMatrix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834640" y="3017520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834640" y="301752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SvcConfig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xml::FileParser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983480" y="2304288"/>
            <a:ext cx="548640" cy="34747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83480" y="3401568"/>
            <a:ext cx="548640" cy="-384048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32120" y="2331720"/>
            <a:ext cx="2331720" cy="1005840"/>
          </a:xfrm>
          <a:prstGeom prst="roundRect">
            <a:avLst>
              <a:gd name="adj" fmla="val 5455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532120" y="233172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YBusBuilder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natID sparse solver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863840" y="2834640"/>
            <a:ext cx="54864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2480" y="2331720"/>
            <a:ext cx="2331720" cy="1005840"/>
          </a:xfrm>
          <a:prstGeom prst="roundRect">
            <a:avLst>
              <a:gd name="adj" fmla="val 5455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0" y="233172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DmodlWriter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generiše DAE tekst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578340" y="3337560"/>
            <a:ext cx="0" cy="50292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0" y="384048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E6F0F3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412480" y="384048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.dmodl / .vmodl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izlazni fajlovi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651760" y="1691640"/>
            <a:ext cx="8275320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265176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 (worker thread)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21295C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5212080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Cijeli pipeline (parsiranje, izgradnja Ybus-a, generisanje DAE jednačina) implementiran je u C++, koristeći isključivo natID dense/sparse matrice — bez eksternog Python koraka za predobradu.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 i threading arhitektura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00200"/>
            <a:ext cx="2743200" cy="4572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600200"/>
            <a:ext cx="2743200" cy="457200"/>
          </a:xfrm>
          <a:prstGeom prst="rect">
            <a:avLst/>
          </a:prstGeom>
          <a:solidFill>
            <a:srgbClr val="D6E4EA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1600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3317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MATPOWER case (.m):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26080" y="2377440"/>
            <a:ext cx="2651760" cy="274320"/>
          </a:xfrm>
          <a:prstGeom prst="rect">
            <a:avLst/>
          </a:prstGeom>
          <a:solidFill>
            <a:srgbClr val="F0F4F6"/>
          </a:solidFill>
          <a:ln w="12700">
            <a:solidFill>
              <a:srgbClr val="C7D6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880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config (.xml):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26080" y="2926080"/>
            <a:ext cx="2651760" cy="274320"/>
          </a:xfrm>
          <a:prstGeom prst="rect">
            <a:avLst/>
          </a:prstGeom>
          <a:solidFill>
            <a:srgbClr val="F0F4F6"/>
          </a:solidFill>
          <a:ln w="12700">
            <a:solidFill>
              <a:srgbClr val="C7D6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429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File Name: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926080" y="3474720"/>
            <a:ext cx="2651760" cy="274320"/>
          </a:xfrm>
          <a:prstGeom prst="rect">
            <a:avLst/>
          </a:prstGeom>
          <a:solidFill>
            <a:srgbClr val="F0F4F6"/>
          </a:solidFill>
          <a:ln w="12700">
            <a:solidFill>
              <a:srgbClr val="C7D6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Konverzija u toku...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77240" y="4480560"/>
            <a:ext cx="4892040" cy="320040"/>
          </a:xfrm>
          <a:prstGeom prst="roundRect">
            <a:avLst>
              <a:gd name="adj" fmla="val 14286"/>
            </a:avLst>
          </a:prstGeom>
          <a:solidFill>
            <a:srgbClr val="E2E8EC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480560"/>
            <a:ext cx="3383280" cy="320040"/>
          </a:xfrm>
          <a:prstGeom prst="roundRect">
            <a:avLst>
              <a:gd name="adj" fmla="val 14286"/>
            </a:avLst>
          </a:prstGeom>
          <a:solidFill>
            <a:srgbClr val="5FB8A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48056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97680" y="50292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4297680" y="5029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0" y="160020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21295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75120" y="1965960"/>
            <a:ext cx="4617720" cy="868680"/>
          </a:xfrm>
          <a:prstGeom prst="roundRect">
            <a:avLst>
              <a:gd name="adj" fmla="val 6316"/>
            </a:avLst>
          </a:prstGeom>
          <a:solidFill>
            <a:srgbClr val="065A82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1965960"/>
            <a:ext cx="4617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thread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ViewConv, gui::ProgressIndicator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675120" y="4480560"/>
            <a:ext cx="4617720" cy="868680"/>
          </a:xfrm>
          <a:prstGeom prst="roundRect">
            <a:avLst>
              <a:gd name="adj" fmla="val 6316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6675120" y="4480560"/>
            <a:ext cx="4617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thread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Converter::run(...)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680960" y="2834640"/>
            <a:ext cx="-457200" cy="1554480"/>
          </a:xfrm>
          <a:prstGeom prst="line">
            <a:avLst/>
          </a:prstGeom>
          <a:noFill/>
          <a:ln w="25400">
            <a:solidFill>
              <a:srgbClr val="5FB8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12280" y="3246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std::thread pokreće konverziju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0149840" y="4480560"/>
            <a:ext cx="457200" cy="-1554480"/>
          </a:xfrm>
          <a:prstGeom prst="line">
            <a:avLst/>
          </a:prstGeom>
          <a:noFill/>
          <a:ln w="25400">
            <a:solidFill>
              <a:srgbClr val="5FB8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01752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progressCb(frac) →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thread (async)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675120" y="548640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Direktan pristup GUI elementima sa worker thread-a se nikad ne dešava — sva ažuriranja idu preko gui::thread::asyncExecInMainThread.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XML format za dodjelu tipa čvora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040880" cy="4434840"/>
          </a:xfrm>
          <a:prstGeom prst="roundRect">
            <a:avLst>
              <a:gd name="adj" fmla="val 1649"/>
            </a:avLst>
          </a:prstGeom>
          <a:solidFill>
            <a:srgbClr val="21295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&lt;SVCConverterConfig&gt;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&lt;Files&gt;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&lt;InputFile path="case9.m"/&gt;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&lt;OutputFile name="case9_svc" .../&gt;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&lt;/Files&gt;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&lt;Simulation&gt;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&lt;dTime&gt;0.01&lt;/dTime&gt; &lt;endTime&gt;10&lt;/endTime&gt;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&lt;/Simulation&gt;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&lt;SVCNodes&gt;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&lt;Node bus="5" type="SVCTypeI"  vref="1.02"/&gt;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&lt;Node bus="9" type="SVCTypeII" vref="1.00"/&gt;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&lt;/SVCNodes&gt;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&lt;/SVCConverterConfig&gt;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818120" y="1600200"/>
            <a:ext cx="3840480" cy="44348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92440" y="1874520"/>
            <a:ext cx="548640" cy="548640"/>
          </a:xfrm>
          <a:prstGeom prst="ellipse">
            <a:avLst/>
          </a:prstGeom>
          <a:solidFill>
            <a:srgbClr val="E6F0F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8277" y="1940357"/>
            <a:ext cx="416966" cy="41696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92440" y="2560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5 → SVC Type 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092440" y="2971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9 → SVC Type II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092440" y="3520440"/>
            <a:ext cx="3246120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92440" y="37033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 bus koji NIJE naveden zadržava svoj originalni statički model (Slack / PV / PQ) iz .m fajla.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TESTIRANJE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slučajevi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7360" y="1920240"/>
          <a:ext cx="86868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slučaj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SVC Type I (bus)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SVC Type II (bus)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case30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case118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case300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737360" y="54864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 busevi su odabrani među originalno PQ (opterećenim) čvorovima — isti princip kao Milanov IEEE14 primjer (SVC na bus 9).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VERIFIKACIJA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Projekat je stvarno kompajliran i pokrenut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065A82">
              <a:alpha val="85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47672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92808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MSVC 2022 build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56032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Build Tools 2022 — oba solution-a (SVCPluginSol, TestSVCPluginSol) kompajlirana i linkovana bez grešaka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065A82">
              <a:alpha val="85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4767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1892808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greške pronađene i ispravljene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46520" y="256032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Otkrivene direktno kroz kompajliranje (nedostajući include-ovi), ne bi bile uočene statičkom analizom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97764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065A82">
              <a:alpha val="85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33672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4178808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Y-bus vrijednosti potvrđene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822960" y="484632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case9 konverzija: vrijednosti admitansi TAČNO se poklapaju sa prošlogodišnjim nezavisnim konvertorom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172200" y="397764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065A82">
              <a:alpha val="85000"/>
            </a:srgbClr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233672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040880" y="4178808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učitan u pravi dTwin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6446520" y="484632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svcConv.dll kopiran u dTwin plugins folder — aplikacija se pokreće stabilno bez pada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ZAKLJUČAK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Šta je postignuto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56232"/>
            <a:ext cx="548640" cy="548640"/>
          </a:xfrm>
          <a:prstGeom prst="ellipse">
            <a:avLst/>
          </a:prstGeom>
          <a:solidFill>
            <a:srgbClr val="E6F0F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1922069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7830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Potpun C++ pipeline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035040" y="178308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eksternog Python koraka - isključivo natID dense/sparse matrice u cijelom procesu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2907792"/>
            <a:ext cx="548640" cy="548640"/>
          </a:xfrm>
          <a:prstGeom prst="ellipse">
            <a:avLst/>
          </a:prstGeom>
          <a:solidFill>
            <a:srgbClr val="E6F0F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797" y="2973629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37360" y="2834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XML-konfigurabilan izbor SVC tipa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035040" y="283464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čvoru: standardni model, SVC Type I ili SVC Type II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79476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959352"/>
            <a:ext cx="548640" cy="548640"/>
          </a:xfrm>
          <a:prstGeom prst="ellipse">
            <a:avLst/>
          </a:prstGeom>
          <a:solidFill>
            <a:srgbClr val="E6F0F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97" y="4025189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38862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GUI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035040" y="388620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progres bez direktnog pristupa GUI-u sa worker thread-a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484632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5010912"/>
            <a:ext cx="548640" cy="548640"/>
          </a:xfrm>
          <a:prstGeom prst="ellipse">
            <a:avLst/>
          </a:prstGeom>
          <a:solidFill>
            <a:srgbClr val="E6F0F3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7" y="5076749"/>
            <a:ext cx="416966" cy="4169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37360" y="49377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Validirano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035040" y="493776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Prema Milanovoj teoriji (jednačine 19.1-19.5) i poređenjem sa referentnim konvertorom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206240"/>
            <a:ext cx="4572000" cy="45720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41848" y="182880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20574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926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Hvala na pažnji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Pitanja?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Haris Hodžić  •  Indeks 19145  •  SREES_2026_Hodzic_SVC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Type I/II - natID/dTwin plugin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SVC Type I/II - natID/dTwin plugin</dc:title>
  <dc:subject>PptxGenJS Presentation</dc:subject>
  <dc:creator>Haris Hodžić</dc:creator>
  <cp:lastModifiedBy>Haris Hodžić</cp:lastModifiedBy>
  <cp:revision>1</cp:revision>
  <dcterms:created xsi:type="dcterms:W3CDTF">2026-07-06T20:41:59Z</dcterms:created>
  <dcterms:modified xsi:type="dcterms:W3CDTF">2026-07-06T20:41:59Z</dcterms:modified>
</cp:coreProperties>
</file>